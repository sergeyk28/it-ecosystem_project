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619401ce8_2_7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9619401ce8_2_7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19401ce8_2_77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619401ce8_2_77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619401ce8_2_83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619401ce8_2_83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19401ce8_2_8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619401ce8_2_8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19401ce8_2_9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619401ce8_2_9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19401ce8_2_102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619401ce8_2_102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19401ce8_2_10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619401ce8_2_10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619401ce8_2_114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619401ce8_2_114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619401ce8_2_12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619401ce8_2_12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19401ce8_2_12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619401ce8_2_12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19401ce8_2_13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9619401ce8_2_13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619401ce8_2_13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619401ce8_2_13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19401ce8_2_14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619401ce8_2_14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619401ce8_2_14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619401ce8_2_14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619401ce8_2_15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619401ce8_2_15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619401ce8_2_15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9619401ce8_2_15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619401ce8_2_16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619401ce8_2_16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619401ce8_2_16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619401ce8_2_166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619401ce8_2_17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619401ce8_2_17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619401ce8_2_17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9619401ce8_2_176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619401ce8_2_18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9619401ce8_2_18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619401ce8_2_18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619401ce8_2_186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619401ce8_2_19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9619401ce8_2_19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619401ce8_2_19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9619401ce8_2_196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619401ce8_2_20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619401ce8_2_20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619401ce8_2_208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9619401ce8_2_208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619401ce8_2_213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9619401ce8_2_213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619401ce8_2_21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619401ce8_2_21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619401ce8_2_224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9619401ce8_2_224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619401ce8_2_22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9619401ce8_2_22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619401ce8_2_23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619401ce8_2_23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19401ce8_2_24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9619401ce8_2_241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619401ce8_2_247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9619401ce8_2_247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619401ce8_2_253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619401ce8_2_253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19401ce8_2_25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9619401ce8_2_25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85800" y="2130480"/>
            <a:ext cx="77688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1604520"/>
            <a:ext cx="8226000" cy="3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600200"/>
            <a:ext cx="8226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272880"/>
            <a:ext cx="3004500" cy="11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575160" y="272880"/>
            <a:ext cx="5108100" cy="58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57200" y="1434960"/>
            <a:ext cx="3004500" cy="4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1792440" y="4800600"/>
            <a:ext cx="5482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1792440" y="61272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3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3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1792440" y="5367240"/>
            <a:ext cx="5482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2309100" y="-251700"/>
            <a:ext cx="4522200" cy="82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 rot="5400000">
            <a:off x="4732350" y="2171730"/>
            <a:ext cx="5847900" cy="20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 rot="5400000">
            <a:off x="541470" y="190530"/>
            <a:ext cx="5847900" cy="60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57200" y="1600200"/>
            <a:ext cx="4035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4648320" y="1600200"/>
            <a:ext cx="4035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722160" y="4406760"/>
            <a:ext cx="7768800" cy="13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722160" y="2906640"/>
            <a:ext cx="77688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57200" y="1535040"/>
            <a:ext cx="4036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24"/>
          <p:cNvSpPr txBox="1"/>
          <p:nvPr>
            <p:ph idx="2" type="body"/>
          </p:nvPr>
        </p:nvSpPr>
        <p:spPr>
          <a:xfrm>
            <a:off x="457200" y="2174760"/>
            <a:ext cx="4036800" cy="3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4"/>
          <p:cNvSpPr txBox="1"/>
          <p:nvPr>
            <p:ph idx="3" type="body"/>
          </p:nvPr>
        </p:nvSpPr>
        <p:spPr>
          <a:xfrm>
            <a:off x="4645080" y="1535040"/>
            <a:ext cx="40380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4"/>
          <p:cNvSpPr txBox="1"/>
          <p:nvPr>
            <p:ph idx="4" type="body"/>
          </p:nvPr>
        </p:nvSpPr>
        <p:spPr>
          <a:xfrm>
            <a:off x="4645080" y="2174760"/>
            <a:ext cx="4038000" cy="3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45720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3124080" y="6356520"/>
            <a:ext cx="2892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6553080" y="6356520"/>
            <a:ext cx="213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827640" y="2493000"/>
            <a:ext cx="77688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Разработка и внедрение графического клиент-серверного приложения для автоматизации процессов сервисного центра по ремонту электронной техники»</a:t>
            </a:r>
            <a:endParaRPr b="0" sz="4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 txBox="1"/>
          <p:nvPr>
            <p:ph idx="1" type="subTitle"/>
          </p:nvPr>
        </p:nvSpPr>
        <p:spPr>
          <a:xfrm>
            <a:off x="2746800" y="5081991"/>
            <a:ext cx="63972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</a:t>
            </a:r>
            <a:r>
              <a:rPr b="0" i="1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Круглов Сергей Денисович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Специальность: Информационные системы и программирование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ИСиП 22-01п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b="0" i="1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Сергаева Наталья Олеговна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179640" y="72720"/>
            <a:ext cx="87096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МИНИСТЕРСТОВ ОБРАЗОВАНИЯ КРАСНОЯРСКОГО КРАЯ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КРАЕВОЕ ГОСУДАРСТВЕННОЕ АВТОНОМНОЕ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ПРОФЕССИОНАЛЬНОЕ ОБРАЗОВАТЕЛЬНОЕ УЧРЕЖДЕНИЕ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«КРАСНОЯРСКИЙ КОЛЛЕДЖ ОТРАСЛЕВЫХ ТЕХНОЛОГИЙ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ПРЕДПРИНИМАТЕЛЬСТВА»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работы</a:t>
            </a:r>
            <a:endParaRPr b="1" sz="4400" u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457200" y="1600200"/>
            <a:ext cx="8226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Проект поможет сервису: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Уменьшение телефонных консультаций и уведомлений о готовности заказов</a:t>
            </a:r>
            <a:br>
              <a:rPr b="0" i="0" lang="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Оформление заказов вне рабочего времени (автоматизация приёма заявок)</a:t>
            </a:r>
            <a:br>
              <a:rPr b="0" i="0" lang="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Снижение затрат на телекоммуникации и CRM-подписки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8225" y="4127491"/>
            <a:ext cx="2855775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79375" y="274667"/>
            <a:ext cx="86037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Логика исследования</a:t>
            </a:r>
            <a:endParaRPr b="1" sz="4400" u="none" strike="noStrike">
              <a:solidFill>
                <a:schemeClr val="dk1"/>
              </a:solidFill>
            </a:endParaRPr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457200" y="1600200"/>
            <a:ext cx="8226000" cy="5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349588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b="1" i="0" lang="ru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chemeClr val="dk1"/>
              </a:buClr>
              <a:buSzPct val="51428"/>
              <a:buFont typeface="Times New Roman"/>
              <a:buNone/>
            </a:pP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Повысить производительность сотрудников сервисного центра, привлечь дополнительный поток клиентов и снизить операционные затраты за счёт цифровой автоматизации процессов обслуживания техники и электроники.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0215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ct val="48888"/>
              <a:buFont typeface="Noto Sans Symbols"/>
              <a:buChar char="●"/>
            </a:pPr>
            <a:r>
              <a:rPr b="1" i="0" lang="ru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r>
              <a:rPr b="0" i="0" lang="ru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b="0" i="0" lang="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а) Разработать и внедрить интегрированное программное решение</a:t>
            </a:r>
            <a:br>
              <a:rPr b="0" i="0" lang="ru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б) Обеспечить безопасность и устойчивость системы</a:t>
            </a:r>
            <a:br>
              <a:rPr b="0" i="0" lang="ru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в) ровести пилотное (бета) тестирование на ограниченной выборке пользователей и сотрудников для оценки функциональной пригодности, удобства использования и выявления дефектов</a:t>
            </a:r>
            <a:br>
              <a:rPr b="0" i="0" lang="ru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г) На основании результатов пилота оценить коммерческую заинтересованность и готовность рынка</a:t>
            </a:r>
            <a:br>
              <a:rPr b="0" i="0" lang="ru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д) Организовать пострелизный мониторинг и оценку эффективности: отслеживать ключевые показатели (конверсия заявок, среднее время ремонта, загрузка сотрудников, экономия на телекоммуникациях и CRM, удержание клиентов), собирать обратную связь и проводить итеративные улучшения продукта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6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25" y="38638"/>
            <a:ext cx="1660075" cy="15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Изучение предметной области</a:t>
            </a:r>
            <a:endParaRPr b="1" sz="4400" u="none" strike="noStrike">
              <a:solidFill>
                <a:schemeClr val="dk1"/>
              </a:solidFill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457560" y="1600560"/>
            <a:ext cx="8226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Цель:</a:t>
            </a: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" sz="1800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выявить бизнес‑процессы, боли клиентов и ИТ‑ограничения для формирования MVP.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направления: </a:t>
            </a:r>
            <a:br>
              <a:rPr b="0" i="0" lang="ru" sz="1800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Картирование процесса: приём → диагностика → ремонт → оповещение.</a:t>
            </a:r>
            <a:br>
              <a:rPr b="0" i="0" lang="ru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Сегментация клиентов и роли сотрудников.</a:t>
            </a:r>
            <a:br>
              <a:rPr b="0" i="0" lang="ru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Технологический аудит и требования безопасности.</a:t>
            </a:r>
            <a:br>
              <a:rPr b="0" i="0" lang="ru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Анализ конкурентов и оценка спроса.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Методы:</a:t>
            </a: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" sz="1800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интервью, наблюдение, анализ логов, анкеты, конкурентный анализ.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900" y="4825178"/>
            <a:ext cx="3353100" cy="20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Технологии и средства разработки</a:t>
            </a:r>
            <a:endParaRPr b="1" sz="4400" u="none" strike="noStrike">
              <a:solidFill>
                <a:schemeClr val="dk1"/>
              </a:solidFill>
            </a:endParaRPr>
          </a:p>
        </p:txBody>
      </p:sp>
      <p:sp>
        <p:nvSpPr>
          <p:cNvPr descr="Microsoft Access Vector Logo - Download Free SVG Icon | Worldvectorlogo" id="153" name="Google Shape;153;p29"/>
          <p:cNvSpPr/>
          <p:nvPr/>
        </p:nvSpPr>
        <p:spPr>
          <a:xfrm>
            <a:off x="4419720" y="3276720"/>
            <a:ext cx="3012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457920" y="1600920"/>
            <a:ext cx="8226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Языки программирования: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90001"/>
              </a:lnSpc>
              <a:spcBef>
                <a:spcPts val="240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Фреймворки и библиотеки: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PyMySQL, Caching Libraries,bcrypt 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90001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pyQT5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90001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Базы данных: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90001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Кросс-платформенная разработка: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Windows, Linux, IOS</a:t>
            </a:r>
            <a:br>
              <a:rPr lang="ru" sz="2000">
                <a:latin typeface="Calibri"/>
                <a:ea typeface="Calibri"/>
                <a:cs typeface="Calibri"/>
                <a:sym typeface="Calibri"/>
              </a:rPr>
            </a:br>
            <a:r>
              <a:rPr b="0" lang="ru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1633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150" y="4573533"/>
            <a:ext cx="3048840" cy="228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Технологии и средства разработки</a:t>
            </a:r>
            <a:endParaRPr b="1" sz="4400" u="none" strike="noStrike">
              <a:solidFill>
                <a:schemeClr val="dk1"/>
              </a:solidFill>
            </a:endParaRPr>
          </a:p>
        </p:txBody>
      </p:sp>
      <p:sp>
        <p:nvSpPr>
          <p:cNvPr descr="Microsoft Access Vector Logo - Download Free SVG Icon | Worldvectorlogo" id="161" name="Google Shape;161;p30"/>
          <p:cNvSpPr/>
          <p:nvPr/>
        </p:nvSpPr>
        <p:spPr>
          <a:xfrm>
            <a:off x="4419720" y="3276720"/>
            <a:ext cx="3012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457925" y="1600933"/>
            <a:ext cx="8226000" cy="4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8635" lvl="0" marL="34308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Интегрированные среды разработки (IDE):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635" lvl="0" marL="343080" marR="0" rtl="0" algn="l">
              <a:lnSpc>
                <a:spcPct val="90001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 контроля версий: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Git, GitHub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635" lvl="0" marL="343080" marR="0" rtl="0" algn="l">
              <a:lnSpc>
                <a:spcPct val="90001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Инструменты тестирования и отладки: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debugger - PyCharm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635" lvl="0" marL="343080" marR="0" rtl="0" algn="l">
              <a:lnSpc>
                <a:spcPct val="90001"/>
              </a:lnSpc>
              <a:spcBef>
                <a:spcPts val="240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</a:t>
            </a: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</a:t>
            </a: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мы непрерывной интеграции (CI/CD):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GitLab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635" lvl="0" marL="343080" marR="0" rtl="0" algn="l">
              <a:lnSpc>
                <a:spcPct val="90001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Инструменты для документирования кода: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Sphinx, GitHub Pages, Draw.io,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635" lvl="0" marL="343080" marR="0" rtl="0" algn="l">
              <a:lnSpc>
                <a:spcPct val="90001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Инструменты парного программирования:</a:t>
            </a:r>
            <a:br>
              <a:rPr lang="ru" sz="1800">
                <a:latin typeface="Calibri"/>
                <a:ea typeface="Calibri"/>
                <a:cs typeface="Calibri"/>
                <a:sym typeface="Calibri"/>
              </a:rPr>
            </a:br>
            <a:r>
              <a:rPr b="0" lang="ru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GitHub, Git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1633"/>
              </a:spcBef>
              <a:spcAft>
                <a:spcPts val="0"/>
              </a:spcAft>
              <a:buNone/>
            </a:pPr>
            <a:r>
              <a:t/>
            </a:r>
            <a:endParaRPr b="0" sz="15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0945" y="4573540"/>
            <a:ext cx="2613060" cy="228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/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Главное меню</a:t>
            </a:r>
            <a:endParaRPr b="1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150" y="1535000"/>
            <a:ext cx="7140550" cy="517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22960"/>
            <a:ext cx="4679280" cy="4756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9440" y="1722960"/>
            <a:ext cx="4083839" cy="49363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 услуг (ПР. Телефон и Ноутбук)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343" y="1689550"/>
            <a:ext cx="6457606" cy="494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3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Избранное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550" y="1533480"/>
            <a:ext cx="4859279" cy="51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4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Магазин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197" y="2609000"/>
            <a:ext cx="4772725" cy="179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войти в корзину не авторизованным 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788" y="1414075"/>
            <a:ext cx="4672432" cy="524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6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Авторизация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825" y="1606750"/>
            <a:ext cx="3124350" cy="492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7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0847" y="1705648"/>
            <a:ext cx="3222300" cy="48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8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Профиль пользователя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2389" y="1848776"/>
            <a:ext cx="3379225" cy="48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9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Настройки 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1988272"/>
            <a:ext cx="4452750" cy="44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825" y="1794588"/>
            <a:ext cx="3823550" cy="481812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0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(Клиент)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Настройки (ПР: ИиФ и ДР)</a:t>
            </a:r>
            <a:r>
              <a:rPr b="1" i="1" lang="ru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Авторизация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8183" y="1784798"/>
            <a:ext cx="5587625" cy="45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74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endParaRPr b="1" sz="37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53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Профиль сотрудника</a:t>
            </a:r>
            <a:endParaRPr b="1" sz="15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7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2175" y="1551525"/>
            <a:ext cx="3276750" cy="499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Главное меню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1660320"/>
            <a:ext cx="8820000" cy="507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Добавить заказ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1808280"/>
            <a:ext cx="8460000" cy="4851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963" y="1614701"/>
            <a:ext cx="6996075" cy="48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Клиенты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52" y="1792428"/>
            <a:ext cx="7072199" cy="469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/>
          <p:nvPr/>
        </p:nvSpPr>
        <p:spPr>
          <a:xfrm>
            <a:off x="45756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продукта (CRM)</a:t>
            </a:r>
            <a:br>
              <a:rPr lang="ru" sz="44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ru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Магазины</a:t>
            </a:r>
            <a:endParaRPr b="1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38" y="1734203"/>
            <a:ext cx="7455824" cy="482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idx="1" type="body"/>
          </p:nvPr>
        </p:nvSpPr>
        <p:spPr>
          <a:xfrm>
            <a:off x="180000" y="116640"/>
            <a:ext cx="8460000" cy="673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Отчёт: заказ по меню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25" y="2202025"/>
            <a:ext cx="8772550" cy="245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idx="1" type="body"/>
          </p:nvPr>
        </p:nvSpPr>
        <p:spPr>
          <a:xfrm>
            <a:off x="0" y="203040"/>
            <a:ext cx="9000000" cy="673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Запрос: забронированные ремонта</a:t>
            </a:r>
            <a:br>
              <a:rPr b="0" i="0" lang="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график работы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25" y="1780750"/>
            <a:ext cx="8903376" cy="1196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3797" y="3521137"/>
            <a:ext cx="6306602" cy="1367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867" y="5424733"/>
            <a:ext cx="7527860" cy="1325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00" y="2304139"/>
            <a:ext cx="8643000" cy="22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0"/>
          <p:cNvSpPr txBox="1"/>
          <p:nvPr/>
        </p:nvSpPr>
        <p:spPr>
          <a:xfrm>
            <a:off x="177120" y="360000"/>
            <a:ext cx="86430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Таблица: Склад Комплектующие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базой данных</a:t>
            </a:r>
            <a:endParaRPr b="1" sz="4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1"/>
          <p:cNvSpPr/>
          <p:nvPr/>
        </p:nvSpPr>
        <p:spPr>
          <a:xfrm>
            <a:off x="2321700" y="2063213"/>
            <a:ext cx="4497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базой данных mysql осуществляется через терминал и url — диаграммы draw.io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1788" y="3624950"/>
            <a:ext cx="3756825" cy="28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/>
          <p:nvPr/>
        </p:nvSpPr>
        <p:spPr>
          <a:xfrm>
            <a:off x="0" y="116640"/>
            <a:ext cx="91410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Отчёт: Простая версия URL-диограммы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0" y="2025975"/>
            <a:ext cx="8710552" cy="45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/>
          <p:nvPr/>
        </p:nvSpPr>
        <p:spPr>
          <a:xfrm>
            <a:off x="0" y="116640"/>
            <a:ext cx="91410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Отчёт: Профисиональная версия URL-диограммы</a:t>
            </a:r>
            <a:endParaRPr b="1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2025967"/>
            <a:ext cx="8820000" cy="4814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Совокупная стоимость владения</a:t>
            </a:r>
            <a:endParaRPr b="1" sz="4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4"/>
          <p:cNvSpPr/>
          <p:nvPr/>
        </p:nvSpPr>
        <p:spPr>
          <a:xfrm>
            <a:off x="1513500" y="1414065"/>
            <a:ext cx="6117000" cy="27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42034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 строка кода python =  2 руб (16.500 = 33000 р)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034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 строка кода SQL = 7 (1600 = 11.200 р)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034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Оптимизация скорости и защиты (3.500 р)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034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Дизайн графического приложения (2.600 р)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034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и отчетность результат (2.300 р)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>
                <a:latin typeface="Calibri"/>
                <a:ea typeface="Calibri"/>
                <a:cs typeface="Calibri"/>
                <a:sym typeface="Calibri"/>
              </a:rPr>
            </a:br>
            <a:r>
              <a:rPr b="1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Общая стоимость</a:t>
            </a: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52.600 руб.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0096" y="3774077"/>
            <a:ext cx="3083900" cy="30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5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Источники информации</a:t>
            </a:r>
            <a:br>
              <a:rPr lang="ru" sz="3600"/>
            </a:br>
            <a:r>
              <a:rPr b="1" lang="ru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(КНИГИ:)</a:t>
            </a:r>
            <a:endParaRPr b="1" sz="2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5"/>
          <p:cNvSpPr/>
          <p:nvPr/>
        </p:nvSpPr>
        <p:spPr>
          <a:xfrm>
            <a:off x="182520" y="1414440"/>
            <a:ext cx="6117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Саммерфилд М. -«Python на практике».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Грофф Дж., Вайнберг П., Оппель Э. - «SQL: Полное руководство».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Прохоренок Н.А. - «Python 3 и PyQt 5. Разработка приложений».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Базы данных. Лабораторная практика - Мемедли Р.Э.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"КОД" - Чарльз Петцольд.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"Алгоритмы" - Адитья Бхаргава.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471" y="3675421"/>
            <a:ext cx="2545525" cy="31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Источники информации</a:t>
            </a:r>
            <a:br>
              <a:rPr lang="ru" sz="3600"/>
            </a:br>
            <a:r>
              <a:rPr b="1" lang="ru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ru" sz="2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СТАТЬИ и САЙТЫ:</a:t>
            </a:r>
            <a:r>
              <a:rPr b="1" lang="ru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6"/>
          <p:cNvSpPr/>
          <p:nvPr/>
        </p:nvSpPr>
        <p:spPr>
          <a:xfrm>
            <a:off x="180000" y="1440000"/>
            <a:ext cx="6117000" cy="3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Статья: "Эффективное управление сервисной компанией. Автоматизация путем внедрения CRM системы Битрикс 24" Автор: Григорьева С. С. 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Официальная документация Python: «The Python Standard Library - Networking and Interprocess Communication».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Documentation.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DigitalOcean / Linuxize Community Tutorials: «How To Install and Configure MySQL on Linux Mint / Ubuntu».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 QT5.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Metanit.python.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Metanit.mysq.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554" y="3293000"/>
            <a:ext cx="2338450" cy="35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type="title"/>
          </p:nvPr>
        </p:nvSpPr>
        <p:spPr>
          <a:xfrm>
            <a:off x="457200" y="27468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ru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Источники информации</a:t>
            </a:r>
            <a:br>
              <a:rPr lang="ru" sz="3600"/>
            </a:br>
            <a:r>
              <a:rPr b="1" lang="ru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УЧЕБНИКИ:)</a:t>
            </a:r>
            <a:endParaRPr b="1" sz="24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7"/>
          <p:cNvSpPr/>
          <p:nvPr/>
        </p:nvSpPr>
        <p:spPr>
          <a:xfrm>
            <a:off x="182520" y="1414440"/>
            <a:ext cx="6117000" cy="3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ВКР: "Разработка архитектуры системы автоматизации сервисной службы" Автор: Чепурная В. И. (СПбПУ, направление "Бизнес-информатика", 2022) 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воздева Т.В., Баллод Б.А. - «Проектирование информационных систем».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Вендров А.М. - «Проектирование программного обеспечения».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ГОСТ 19.101-2024 и ГОСТ 34.201-2020 (Единая система программной документации).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Совина Е.А. - «Операционные системы (семейство Linux)».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729" y="4110771"/>
            <a:ext cx="3056275" cy="27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8"/>
          <p:cNvSpPr/>
          <p:nvPr/>
        </p:nvSpPr>
        <p:spPr>
          <a:xfrm>
            <a:off x="457200" y="27504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74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приложения </a:t>
            </a:r>
            <a:br>
              <a:rPr lang="ru" sz="3740"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374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 данный момент)</a:t>
            </a:r>
            <a:endParaRPr b="1" sz="37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8"/>
          <p:cNvSpPr/>
          <p:nvPr/>
        </p:nvSpPr>
        <p:spPr>
          <a:xfrm>
            <a:off x="163440" y="1900407"/>
            <a:ext cx="88170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Создана клиентская часть приложения на 90%.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CRM части приложения на 90%.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базы данных на 90%.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Улучшение оптимизации защиты и скорости 90%.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прошло успешно и без перебоя на 99%.  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1074" y="3942172"/>
            <a:ext cx="3152925" cy="29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/>
          <p:nvPr/>
        </p:nvSpPr>
        <p:spPr>
          <a:xfrm>
            <a:off x="457200" y="275040"/>
            <a:ext cx="822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74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клиентов</a:t>
            </a:r>
            <a:br>
              <a:rPr lang="ru" sz="3740">
                <a:latin typeface="Calibri"/>
                <a:ea typeface="Calibri"/>
                <a:cs typeface="Calibri"/>
                <a:sym typeface="Calibri"/>
              </a:rPr>
            </a:br>
            <a:r>
              <a:rPr b="1" lang="ru" sz="374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 данный момент)</a:t>
            </a:r>
            <a:endParaRPr b="1" sz="37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9"/>
          <p:cNvSpPr/>
          <p:nvPr/>
        </p:nvSpPr>
        <p:spPr>
          <a:xfrm>
            <a:off x="163438" y="1967767"/>
            <a:ext cx="88170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опросом отобраны клиентов (тестировщики) из 12.10.25 большинство положительно удовлетворены новыми возможностями.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Желание пользоваться приложением 9/10.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465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</a:pPr>
            <a:r>
              <a:rPr b="0" lang="ru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Удовлетворены переход на приложения. </a:t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59"/>
          <p:cNvPicPr preferRelativeResize="0"/>
          <p:nvPr/>
        </p:nvPicPr>
        <p:blipFill rotWithShape="1">
          <a:blip r:embed="rId3">
            <a:alphaModFix/>
          </a:blip>
          <a:srcRect b="0" l="14296" r="0" t="14296"/>
          <a:stretch/>
        </p:blipFill>
        <p:spPr>
          <a:xfrm>
            <a:off x="6631105" y="4573533"/>
            <a:ext cx="2512890" cy="228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